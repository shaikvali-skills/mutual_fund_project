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57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5B3FE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8B7CF6">
              <a:alpha val="16000"/>
            </a:srgbClr>
          </a:solidFill>
          <a:ln/>
        </p:spPr>
      </p:sp>
      <p:pic>
        <p:nvPicPr>
          <p:cNvPr id="4" name="Image 0" descr="1783405093866_Bluesto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3063240"/>
            <a:ext cx="10725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Data Analytics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37033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Final Presentation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937760" y="4434840"/>
            <a:ext cx="2313432" cy="0"/>
          </a:xfrm>
          <a:prstGeom prst="line">
            <a:avLst/>
          </a:prstGeom>
          <a:noFill/>
          <a:ln w="25400">
            <a:solidFill>
              <a:srgbClr val="FF8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7091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Mohammad Vali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50749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7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Python  •  SQL  •  Power BI  •  Excel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58064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Duration: June 20, 2026 – July </a:t>
            </a:r>
            <a:r>
              <a:rPr lang="en-US" sz="1150" dirty="0" smtClean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150" dirty="0" smtClean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645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23591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Tech Stack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18104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18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30723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ETL Pipeline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31336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37856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44568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44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44988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5212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Analytics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691640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31152" y="1645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404872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31152" y="23591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Walkthrough (4 Pages)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118104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118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31152" y="30723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3831336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31152" y="37856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Project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4544568"/>
            <a:ext cx="384048" cy="384048"/>
          </a:xfrm>
          <a:prstGeom prst="ellipse">
            <a:avLst/>
          </a:prstGeom>
          <a:solidFill>
            <a:srgbClr val="F4F2FC"/>
          </a:solidFill>
          <a:ln w="12700">
            <a:solidFill>
              <a:srgbClr val="DCD9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544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31152" y="44988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Mutual Fund Data Analytics solution built as part of the Bluestock Data Analytics Capstone — covering data collection, cleaning, storage, analysis, and visualization to generate meaningful business insights for investors.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881360" cy="3429000"/>
          </a:xfrm>
          <a:prstGeom prst="roundRect">
            <a:avLst>
              <a:gd name="adj" fmla="val 2133"/>
            </a:avLst>
          </a:prstGeom>
          <a:solidFill>
            <a:srgbClr val="F4F2FC"/>
          </a:solidFill>
          <a:ln/>
          <a:effectLst>
            <a:outerShdw blurRad="101600" dist="25400" dir="5400000" algn="bl" rotWithShape="0">
              <a:srgbClr val="3A317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9966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ETL pipeline for mutual fund datasets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cleaned data in a SQLite database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fund performance using financial risk &amp; return metrics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trends using interactive Power BI dashboards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funds based on risk and performance profile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insights for investors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241B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MUTUAL_FUND_PROJECT/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data/  (raw, processed, db)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notebooks/  (ingestion → cleaning → EDA →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performance → advanced analytics)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scripts/  (etl_pipeline.py, compute_metrics.py,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live_nav_fetch.py, recommender.py)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sql/  (schema.sql, queries.sql)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dashboard/  (Mutual_Fund_Dashboard.pbix)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reports/  (Final_Report.pdf, Presentation.pptx)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README.md, requirements.txt, .gitignore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148840"/>
            <a:ext cx="2423160" cy="1115568"/>
          </a:xfrm>
          <a:prstGeom prst="roundRect">
            <a:avLst>
              <a:gd name="adj" fmla="val 5738"/>
            </a:avLst>
          </a:prstGeom>
          <a:solidFill>
            <a:srgbClr val="F4F2FC"/>
          </a:solidFill>
          <a:ln w="9525">
            <a:solidFill>
              <a:srgbClr val="DCD9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2585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29400" y="258775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098280" y="2148840"/>
            <a:ext cx="2423160" cy="1115568"/>
          </a:xfrm>
          <a:prstGeom prst="roundRect">
            <a:avLst>
              <a:gd name="adj" fmla="val 5738"/>
            </a:avLst>
          </a:prstGeom>
          <a:solidFill>
            <a:srgbClr val="F4F2FC"/>
          </a:solidFill>
          <a:ln w="9525">
            <a:solidFill>
              <a:srgbClr val="DCD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22585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235440" y="2587752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3447288"/>
            <a:ext cx="2423160" cy="1115568"/>
          </a:xfrm>
          <a:prstGeom prst="roundRect">
            <a:avLst>
              <a:gd name="adj" fmla="val 5738"/>
            </a:avLst>
          </a:prstGeom>
          <a:solidFill>
            <a:srgbClr val="F4F2FC"/>
          </a:solidFill>
          <a:ln w="9525">
            <a:solidFill>
              <a:srgbClr val="DCD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55701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29400" y="3886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Jupyter, Matplotlib, Seaborn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3447288"/>
            <a:ext cx="2423160" cy="1115568"/>
          </a:xfrm>
          <a:prstGeom prst="roundRect">
            <a:avLst>
              <a:gd name="adj" fmla="val 5738"/>
            </a:avLst>
          </a:prstGeom>
          <a:solidFill>
            <a:srgbClr val="F4F2FC"/>
          </a:solidFill>
          <a:ln w="9525">
            <a:solidFill>
              <a:srgbClr val="DCD9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355701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35440" y="38862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4745736"/>
            <a:ext cx="2423160" cy="1115568"/>
          </a:xfrm>
          <a:prstGeom prst="roundRect">
            <a:avLst>
              <a:gd name="adj" fmla="val 5738"/>
            </a:avLst>
          </a:prstGeom>
          <a:solidFill>
            <a:srgbClr val="F4F2FC"/>
          </a:solidFill>
          <a:ln w="9525">
            <a:solidFill>
              <a:srgbClr val="DCD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85546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518464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API (live NAV)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98280" y="4745736"/>
            <a:ext cx="2423160" cy="1115568"/>
          </a:xfrm>
          <a:prstGeom prst="roundRect">
            <a:avLst>
              <a:gd name="adj" fmla="val 5738"/>
            </a:avLst>
          </a:prstGeom>
          <a:solidFill>
            <a:srgbClr val="F4F2FC"/>
          </a:solidFill>
          <a:ln w="9525">
            <a:solidFill>
              <a:srgbClr val="DCD9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485546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35440" y="518464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ETL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Components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28016" cy="12801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29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128016" cy="12801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968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82696"/>
            <a:ext cx="128016" cy="12801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638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Details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9624"/>
            <a:ext cx="128016" cy="12801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307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16552"/>
            <a:ext cx="128016" cy="12801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23560" y="1600200"/>
            <a:ext cx="18288" cy="4572000"/>
          </a:xfrm>
          <a:prstGeom prst="rect">
            <a:avLst/>
          </a:prstGeom>
          <a:solidFill>
            <a:srgbClr val="DCD9EE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 Steps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B3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2084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raw CSV files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26700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B3FE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2651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32369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B3FE0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3236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32186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35040" y="38039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B3FE0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378561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 names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35040" y="43708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B3FE0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4370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435254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date columns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35040" y="49377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B3FE0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49194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SQLite database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backend  •  data/db/bluestock_mf.db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881360" cy="340156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reference data for each mutual fund scheme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daily NAV records per scheme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fact_aum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Under Management by fund / AMC over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scheme_performance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return and risk metrics per scheme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SIP, lumpsum and redemption transaction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5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4F2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Areas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Analysis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Category Analysis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Analysis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241B4F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Visualizations Used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 Analytics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4F2FC"/>
          </a:solidFill>
          <a:ln/>
          <a:effectLst>
            <a:outerShdw blurRad="76200" dist="25400" dir="5400000" algn="bl" rotWithShape="0">
              <a:srgbClr val="3A317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3852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51460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Compounded annual growth rate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4F2FC"/>
          </a:solidFill>
          <a:ln/>
          <a:effectLst>
            <a:outerShdw blurRad="76200" dist="25400" dir="5400000" algn="bl" rotWithShape="0">
              <a:srgbClr val="3A317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193852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47872" y="251460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of returns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4F2FC"/>
          </a:solidFill>
          <a:ln/>
          <a:effectLst>
            <a:outerShdw blurRad="76200" dist="25400" dir="5400000" algn="bl" rotWithShape="0">
              <a:srgbClr val="3A317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93852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Ratio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91072" y="251460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 vs. risk-free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0" y="173736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4F2FC"/>
          </a:solidFill>
          <a:ln/>
          <a:effectLst>
            <a:outerShdw blurRad="76200" dist="25400" dir="5400000" algn="bl" rotWithShape="0">
              <a:srgbClr val="3A317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34272" y="193852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Sortino Ratio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34272" y="251460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return, downside deviation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241B4F"/>
          </a:solidFill>
          <a:ln/>
          <a:effectLst>
            <a:outerShdw blurRad="76200" dist="25400" dir="5400000" algn="bl" rotWithShape="0">
              <a:srgbClr val="3A317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417880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75488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benchmark movement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397764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241B4F"/>
          </a:solidFill>
          <a:ln/>
          <a:effectLst>
            <a:outerShdw blurRad="76200" dist="25400" dir="5400000" algn="bl" rotWithShape="0">
              <a:srgbClr val="3A317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47872" y="417880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47872" y="475488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 over the benchmark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397764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241B4F"/>
          </a:solidFill>
          <a:ln/>
          <a:effectLst>
            <a:outerShdw blurRad="76200" dist="25400" dir="5400000" algn="bl" rotWithShape="0">
              <a:srgbClr val="3A317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91072" y="417880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Drawdown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91072" y="475488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peak-to-trough decline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69680" y="397764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241B4F"/>
          </a:solidFill>
          <a:ln/>
          <a:effectLst>
            <a:outerShdw blurRad="76200" dist="25400" dir="5400000" algn="bl" rotWithShape="0">
              <a:srgbClr val="3A317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34272" y="417880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/ CVaR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34272" y="4754880"/>
            <a:ext cx="22311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&amp; expected tail-risk loss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4F2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Analysis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investors and funds to study behavior and performance over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4F2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938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49440" y="242316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volatility, drawdown, and downside risk across categories.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4F2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178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Recommendation System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466344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funds aligned to an investor's risk appetite.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4F2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4206240"/>
            <a:ext cx="457200" cy="457200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4178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&amp; CVaR Analysis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49440" y="466344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tail-risk exposure across the mutual fund universe.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summary of the mutual fund dataset — total funds, AUM, average returns, and category distribution.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7315200" cy="422726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9EE"/>
            </a:solidFill>
            <a:prstDash val="solid"/>
          </a:ln>
          <a:effectLst>
            <a:outerShdw blurRad="101600" dist="25400" dir="5400000" algn="bl" rotWithShape="0">
              <a:srgbClr val="3A3170">
                <a:alpha val="12000"/>
              </a:srgbClr>
            </a:outerShdw>
          </a:effectLst>
        </p:spPr>
      </p:sp>
      <p:pic>
        <p:nvPicPr>
          <p:cNvPr id="6" name="Image 0" descr="1783405109189_01_Industry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7223760" cy="41358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20574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241B4F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Highlights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21040" y="2606040"/>
            <a:ext cx="3063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AUM: 39M crore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Schemes: 1,522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Folios: 26.12K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SIP Inflow: 31K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AMCs: SBI, ICICI Prudential, HDFC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trending up 2023–2025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analyzed via CAGR, annual returns, Sharpe Ratio, and NAV trends, with Fund House / Category / Plan filters.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7315200" cy="4159351"/>
          </a:xfrm>
          <a:prstGeom prst="rect">
            <a:avLst/>
          </a:prstGeom>
          <a:solidFill>
            <a:srgbClr val="FFFFFF"/>
          </a:solidFill>
          <a:ln w="12700">
            <a:solidFill>
              <a:srgbClr val="DCD9EE"/>
            </a:solidFill>
            <a:prstDash val="solid"/>
          </a:ln>
          <a:effectLst>
            <a:outerShdw blurRad="101600" dist="25400" dir="5400000" algn="bl" rotWithShape="0">
              <a:srgbClr val="3A3170">
                <a:alpha val="12000"/>
              </a:srgbClr>
            </a:outerShdw>
          </a:effectLst>
        </p:spPr>
      </p:sp>
      <p:pic>
        <p:nvPicPr>
          <p:cNvPr id="6" name="Image 0" descr="1783405109191_0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7223760" cy="40679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20574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241B4F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Highlights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21040" y="2606040"/>
            <a:ext cx="3063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Scheme-level 3Y Return %, Sharpe Ratio &amp; AUM table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vs. Return bubble chart by category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vs. Nifty 50 benchmark, 2022–2026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for deep-dive comparison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behavior across transaction volumes, transaction types, and demographics by state and age group.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7315200" cy="414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9EE"/>
            </a:solidFill>
            <a:prstDash val="solid"/>
          </a:ln>
          <a:effectLst>
            <a:outerShdw blurRad="101600" dist="25400" dir="5400000" algn="bl" rotWithShape="0">
              <a:srgbClr val="3A3170">
                <a:alpha val="12000"/>
              </a:srgbClr>
            </a:outerShdw>
          </a:effectLst>
        </p:spPr>
      </p:sp>
      <p:pic>
        <p:nvPicPr>
          <p:cNvPr id="6" name="Image 0" descr="1783405109193_03_Investor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7223760" cy="4056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20574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241B4F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Highlights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21040" y="2606040"/>
            <a:ext cx="3063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60.15% • Lumpsum 24.7% • Redemption 15.15%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volume peaks near 4K in Q1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states: Punjab, Tamil Nadu, MP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56+ age group leads average SIP amount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&amp; Market Trends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by category benchmarked against the Nifty 50, with a category-wise year-over-year inflow heatmap.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7315200" cy="41565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9EE"/>
            </a:solidFill>
            <a:prstDash val="solid"/>
          </a:ln>
          <a:effectLst>
            <a:outerShdw blurRad="101600" dist="25400" dir="5400000" algn="bl" rotWithShape="0">
              <a:srgbClr val="3A3170">
                <a:alpha val="12000"/>
              </a:srgbClr>
            </a:outerShdw>
          </a:effectLst>
        </p:spPr>
      </p:sp>
      <p:pic>
        <p:nvPicPr>
          <p:cNvPr id="6" name="Image 0" descr="1783405109187_04_SIP__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7223760" cy="40651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92440" y="205740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241B4F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Highlights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21040" y="2606040"/>
            <a:ext cx="3063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lead FY25 net inflow: 451,275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resilient through market swings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category heatmap comparison</a:t>
            </a:r>
            <a:endParaRPr lang="en-US" sz="103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03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Sectoral/Thematic &amp; Flexi Cap follow closely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F4F2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562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funds generated higher long-term returns than debt funds.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F4F2FC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8562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78040" y="18288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expense ratio funds delivered better risk-adjusted performance.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F4F2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310128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AUM does not always indicate superior returns.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172968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F4F2F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78040" y="3310128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effectively identifies consistent performers.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F4F2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18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4791456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 highlights downside risk across funds.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4654296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F4F2FC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818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78040" y="4791456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stay resilient even through market corrections.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the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241B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Start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https://github.com/yourusername/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mutual_fund_project.git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303580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69417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scripts/etl_pipeline.py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435254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scripts/compute_metrics.py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501091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scripts/live_nav_fetch.py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4F2FC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Outputs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33172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CSV files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advanced analytics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presentation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013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updates using MFAPI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24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426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48386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 (Markowitz Model)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32511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for risk scenarios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48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166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1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reporting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•  Mutual Fund Data Analytics Capstone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4572000" cy="4572000"/>
          </a:xfrm>
          <a:prstGeom prst="ellipse">
            <a:avLst/>
          </a:prstGeom>
          <a:solidFill>
            <a:srgbClr val="5B3FE0">
              <a:alpha val="20000"/>
            </a:srgbClr>
          </a:solidFill>
          <a:ln/>
        </p:spPr>
      </p:sp>
      <p:pic>
        <p:nvPicPr>
          <p:cNvPr id="3" name="Image 0" descr="1783405093866_Bluesto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00584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514600"/>
            <a:ext cx="10725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32461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D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Analytics Capstone Project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937760" y="3886200"/>
            <a:ext cx="2313432" cy="0"/>
          </a:xfrm>
          <a:prstGeom prst="line">
            <a:avLst/>
          </a:prstGeom>
          <a:noFill/>
          <a:ln w="25400">
            <a:solidFill>
              <a:srgbClr val="FF8A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206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Mohammad Vali
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B7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| Python • SQL • Power BI • Excel
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github.com/Shaikvali-skills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9893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Bluestock Fintech  •  July </a:t>
            </a:r>
            <a:r>
              <a:rPr lang="en-US" sz="1100" dirty="0" smtClean="0">
                <a:solidFill>
                  <a:srgbClr val="8A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100" dirty="0" smtClean="0">
                <a:solidFill>
                  <a:srgbClr val="8A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>
                <a:solidFill>
                  <a:srgbClr val="8A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1108</Words>
  <Application>Microsoft Office PowerPoint</Application>
  <PresentationFormat>Widescreen</PresentationFormat>
  <Paragraphs>282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Data Analytics Capstone Project</dc:title>
  <dc:subject>PptxGenJS Presentation</dc:subject>
  <dc:creator>Shaik Mohammad Vali</dc:creator>
  <cp:lastModifiedBy>hp</cp:lastModifiedBy>
  <cp:revision>3</cp:revision>
  <dcterms:created xsi:type="dcterms:W3CDTF">2026-07-07T06:24:17Z</dcterms:created>
  <dcterms:modified xsi:type="dcterms:W3CDTF">2026-07-07T06:54:20Z</dcterms:modified>
</cp:coreProperties>
</file>